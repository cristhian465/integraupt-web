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031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UPT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06324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web integral para la gestión universitaria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Privada de Tacna · Proyecto de Programación Web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Problemática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del proyecto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propuesta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del sistema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técnica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Tecnologías utilizadas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y autenticación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 e infraestructura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actual y trabajo futuro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Problemática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64008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Fragmentación de sistemas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área (espacios, incidencias, salud, deportes, psicología, etc.) maneja procesos por separado, sin un sistema único que centralice la información.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280160"/>
            <a:ext cx="64008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Procesos manuales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17556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Reservas de ambientes, reportes de incidencias y control de sanciones se gestionan de forma manual o en hojas de cálculo, generando errores y demoras.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49040"/>
            <a:ext cx="64008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858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Múltiples accesos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22452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Estudiantes, docentes y administrativos no cuentan con un punto de acceso único; cada servicio requeriría credenciales distintas.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749040"/>
            <a:ext cx="64008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858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 de trazabilidad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422452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existe un registro centralizado (auditoría) de quién hizo qué cambio y cuándo, dificultando el control administrativo.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del proyecto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Centralizar la gestión académica y administrativa en una sola plataforma web.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Permitir inicio de sesión único (incluyendo SSO con Google) para todos los perfiles de usuario.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Digitalizar procesos clave: reservas de espacios, incidencias, sanciones, salud y bienestar estudiantil.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Brindar reportes y auditoría en tiempo real para la toma de decisiones.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 una arquitectura escalable, capaz de crecer en módulos sin afectar al resto del sistema.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propuesta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64008" cy="137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898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UPT: plataforma web modular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sistema web único (SPA) que consume múltiples microservicios backend especializados, cada uno encargado de un dominio del negocio universitario, todo accesible desde un solo dominio y un solo login.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17520"/>
            <a:ext cx="64008" cy="201168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1272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solo acceso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493008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tradicional + Google SSO para estudiantes, docentes y administrativos.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0248" y="30175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3017520"/>
            <a:ext cx="64008" cy="201168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31272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independientes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3493008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funcionalidad vive en su propio microservicio, desplegable y escalable por separado.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83296" y="30175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3017520"/>
            <a:ext cx="64008" cy="201168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31272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centralizados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11896" y="3493008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 consolidada con catálogos compartidos (usuarios, escuelas, roles).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del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Académico &amp; Usuarios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641348" cy="292608"/>
          </a:xfrm>
          <a:prstGeom prst="roundRect">
            <a:avLst>
              <a:gd name="adj" fmla="val 156250"/>
            </a:avLst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6413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Usuarios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08276" y="1645920"/>
            <a:ext cx="1485900" cy="292608"/>
          </a:xfrm>
          <a:prstGeom prst="roundRect">
            <a:avLst>
              <a:gd name="adj" fmla="val 156250"/>
            </a:avLst>
          </a:prstGeom>
          <a:solidFill>
            <a:srgbClr val="0B3D91"/>
          </a:solidFill>
          <a:ln/>
        </p:spPr>
      </p:sp>
      <p:sp>
        <p:nvSpPr>
          <p:cNvPr id="7" name="Text 5"/>
          <p:cNvSpPr/>
          <p:nvPr/>
        </p:nvSpPr>
        <p:spPr>
          <a:xfrm>
            <a:off x="2208276" y="1645920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Horarios de Curso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03904" y="1645920"/>
            <a:ext cx="864108" cy="292608"/>
          </a:xfrm>
          <a:prstGeom prst="roundRect">
            <a:avLst>
              <a:gd name="adj" fmla="val 156250"/>
            </a:avLst>
          </a:prstGeom>
          <a:solidFill>
            <a:srgbClr val="0B3D91"/>
          </a:solidFill>
          <a:ln/>
        </p:spPr>
      </p:sp>
      <p:sp>
        <p:nvSpPr>
          <p:cNvPr id="9" name="Text 7"/>
          <p:cNvSpPr/>
          <p:nvPr/>
        </p:nvSpPr>
        <p:spPr>
          <a:xfrm>
            <a:off x="3803904" y="1645920"/>
            <a:ext cx="864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1796796" cy="292608"/>
          </a:xfrm>
          <a:prstGeom prst="roundRect">
            <a:avLst>
              <a:gd name="adj" fmla="val 156250"/>
            </a:avLst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29968"/>
            <a:ext cx="17967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Virtual (Moodle)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63724" y="2029968"/>
            <a:ext cx="941832" cy="292608"/>
          </a:xfrm>
          <a:prstGeom prst="roundRect">
            <a:avLst>
              <a:gd name="adj" fmla="val 156250"/>
            </a:avLst>
          </a:prstGeom>
          <a:solidFill>
            <a:srgbClr val="0B3D91"/>
          </a:solidFill>
          <a:ln/>
        </p:spPr>
      </p:sp>
      <p:sp>
        <p:nvSpPr>
          <p:cNvPr id="13" name="Text 11"/>
          <p:cNvSpPr/>
          <p:nvPr/>
        </p:nvSpPr>
        <p:spPr>
          <a:xfrm>
            <a:off x="2363724" y="2029968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Olimpiadas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Espacios &amp; Reservas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1641348" cy="292608"/>
          </a:xfrm>
          <a:prstGeom prst="roundRect">
            <a:avLst>
              <a:gd name="adj" fmla="val 156250"/>
            </a:avLst>
          </a:prstGeom>
          <a:solidFill>
            <a:srgbClr val="FF8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45920"/>
            <a:ext cx="16413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Espacios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60436" y="1645920"/>
            <a:ext cx="786384" cy="292608"/>
          </a:xfrm>
          <a:prstGeom prst="roundRect">
            <a:avLst>
              <a:gd name="adj" fmla="val 156250"/>
            </a:avLst>
          </a:prstGeom>
          <a:solidFill>
            <a:srgbClr val="FF8A00"/>
          </a:solidFill>
          <a:ln/>
        </p:spPr>
      </p:sp>
      <p:sp>
        <p:nvSpPr>
          <p:cNvPr id="18" name="Text 16"/>
          <p:cNvSpPr/>
          <p:nvPr/>
        </p:nvSpPr>
        <p:spPr>
          <a:xfrm>
            <a:off x="8060436" y="1645920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56548" y="1645920"/>
            <a:ext cx="1563624" cy="292608"/>
          </a:xfrm>
          <a:prstGeom prst="roundRect">
            <a:avLst>
              <a:gd name="adj" fmla="val 156250"/>
            </a:avLst>
          </a:prstGeom>
          <a:solidFill>
            <a:srgbClr val="FF8A00"/>
          </a:solidFill>
          <a:ln/>
        </p:spPr>
      </p:sp>
      <p:sp>
        <p:nvSpPr>
          <p:cNvPr id="20" name="Text 18"/>
          <p:cNvSpPr/>
          <p:nvPr/>
        </p:nvSpPr>
        <p:spPr>
          <a:xfrm>
            <a:off x="8956548" y="1645920"/>
            <a:ext cx="1563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Admin. de Reservas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29900" y="1645920"/>
            <a:ext cx="1019556" cy="292608"/>
          </a:xfrm>
          <a:prstGeom prst="roundRect">
            <a:avLst>
              <a:gd name="adj" fmla="val 156250"/>
            </a:avLst>
          </a:prstGeom>
          <a:solidFill>
            <a:srgbClr val="FF8A00"/>
          </a:solidFill>
          <a:ln/>
        </p:spPr>
      </p:sp>
      <p:sp>
        <p:nvSpPr>
          <p:cNvPr id="22" name="Text 20"/>
          <p:cNvSpPr/>
          <p:nvPr/>
        </p:nvSpPr>
        <p:spPr>
          <a:xfrm>
            <a:off x="10629900" y="1645920"/>
            <a:ext cx="1019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Reservas QR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2029968"/>
            <a:ext cx="786384" cy="292608"/>
          </a:xfrm>
          <a:prstGeom prst="roundRect">
            <a:avLst>
              <a:gd name="adj" fmla="val 156250"/>
            </a:avLst>
          </a:prstGeom>
          <a:solidFill>
            <a:srgbClr val="FF8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029968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Horarios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Bienestar &amp; Salud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786384" cy="292608"/>
          </a:xfrm>
          <a:prstGeom prst="roundRect">
            <a:avLst>
              <a:gd name="adj" fmla="val 156250"/>
            </a:avLst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23360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Gimnasio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53312" y="4023360"/>
            <a:ext cx="1019556" cy="292608"/>
          </a:xfrm>
          <a:prstGeom prst="roundRect">
            <a:avLst>
              <a:gd name="adj" fmla="val 156250"/>
            </a:avLst>
          </a:prstGeom>
          <a:solidFill>
            <a:srgbClr val="475569"/>
          </a:solidFill>
          <a:ln/>
        </p:spPr>
      </p:sp>
      <p:sp>
        <p:nvSpPr>
          <p:cNvPr id="29" name="Text 27"/>
          <p:cNvSpPr/>
          <p:nvPr/>
        </p:nvSpPr>
        <p:spPr>
          <a:xfrm>
            <a:off x="1353312" y="4023360"/>
            <a:ext cx="1019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Policlínico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82596" y="4023360"/>
            <a:ext cx="941832" cy="292608"/>
          </a:xfrm>
          <a:prstGeom prst="roundRect">
            <a:avLst>
              <a:gd name="adj" fmla="val 156250"/>
            </a:avLst>
          </a:prstGeom>
          <a:solidFill>
            <a:srgbClr val="475569"/>
          </a:solidFill>
          <a:ln/>
        </p:spPr>
      </p:sp>
      <p:sp>
        <p:nvSpPr>
          <p:cNvPr id="31" name="Text 29"/>
          <p:cNvSpPr/>
          <p:nvPr/>
        </p:nvSpPr>
        <p:spPr>
          <a:xfrm>
            <a:off x="2482596" y="4023360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Psicología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&amp; Seguridad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4023360"/>
            <a:ext cx="1019556" cy="292608"/>
          </a:xfrm>
          <a:prstGeom prst="roundRect">
            <a:avLst>
              <a:gd name="adj" fmla="val 156250"/>
            </a:avLst>
          </a:prstGeom>
          <a:solidFill>
            <a:srgbClr val="0B3D91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4023360"/>
            <a:ext cx="1019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Incidencias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38644" y="4023360"/>
            <a:ext cx="864108" cy="292608"/>
          </a:xfrm>
          <a:prstGeom prst="roundRect">
            <a:avLst>
              <a:gd name="adj" fmla="val 156250"/>
            </a:avLst>
          </a:prstGeom>
          <a:solidFill>
            <a:srgbClr val="0B3D91"/>
          </a:solidFill>
          <a:ln/>
        </p:spPr>
      </p:sp>
      <p:sp>
        <p:nvSpPr>
          <p:cNvPr id="36" name="Text 34"/>
          <p:cNvSpPr/>
          <p:nvPr/>
        </p:nvSpPr>
        <p:spPr>
          <a:xfrm>
            <a:off x="7438644" y="4023360"/>
            <a:ext cx="864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Sanciones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12480" y="4023360"/>
            <a:ext cx="864108" cy="292608"/>
          </a:xfrm>
          <a:prstGeom prst="roundRect">
            <a:avLst>
              <a:gd name="adj" fmla="val 156250"/>
            </a:avLst>
          </a:prstGeom>
          <a:solidFill>
            <a:srgbClr val="0B3D91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4023360"/>
            <a:ext cx="8641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386316" y="4023360"/>
            <a:ext cx="786384" cy="292608"/>
          </a:xfrm>
          <a:prstGeom prst="roundRect">
            <a:avLst>
              <a:gd name="adj" fmla="val 156250"/>
            </a:avLst>
          </a:prstGeom>
          <a:solidFill>
            <a:srgbClr val="0B3D91"/>
          </a:solidFill>
          <a:ln/>
        </p:spPr>
      </p:sp>
      <p:sp>
        <p:nvSpPr>
          <p:cNvPr id="40" name="Text 38"/>
          <p:cNvSpPr/>
          <p:nvPr/>
        </p:nvSpPr>
        <p:spPr>
          <a:xfrm>
            <a:off x="9386316" y="4023360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282428" y="4023360"/>
            <a:ext cx="1019556" cy="292608"/>
          </a:xfrm>
          <a:prstGeom prst="roundRect">
            <a:avLst>
              <a:gd name="adj" fmla="val 156250"/>
            </a:avLst>
          </a:prstGeom>
          <a:solidFill>
            <a:srgbClr val="0B3D91"/>
          </a:solidFill>
          <a:ln/>
        </p:spPr>
      </p:sp>
      <p:sp>
        <p:nvSpPr>
          <p:cNvPr id="42" name="Text 40"/>
          <p:cNvSpPr/>
          <p:nvPr/>
        </p:nvSpPr>
        <p:spPr>
          <a:xfrm>
            <a:off x="10282428" y="4023360"/>
            <a:ext cx="1019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/ SSO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Arquitectura: visión general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de microservicios: un frontend único consume múltiples servicios backend independientes a través de un proxy inverso.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80560" y="160020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Navegador (Web / Móvil)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224028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40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TypeScript + Vite (SPA)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 INVERSO (HTTPS)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2880360"/>
            <a:ext cx="68580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880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 ·  /svc/&lt;servicio&gt; → contenedor:puerto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MICROSERVICIOS (LARAVEL / PHP)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80744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0744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04288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Espacios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7832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51376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376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Incidencias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Sanciones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98464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98464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Gimnasio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22008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2008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Policlínico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Psicología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69096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69096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692640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616184" y="39319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16184" y="3931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3891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3891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más...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80560" y="502920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B3D9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5029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/ MariaDB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autenticación (Google SSO)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①"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presiona "Iniciar sesión con Google" en el frontend.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②"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frontend redirige al microservicio servicio-login (Laravel Socialite).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③"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backend redirige a Google OAuth para autenticación.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④"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devuelve el control al backend mediante un callback autorizado.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⑤"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backend valida que el correo institucional exista y esté activo, genera un token de sesión y redirige al frontend.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⑥"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frontend valida el token y construye la sesión del usuario.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5760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URLs de cada entorno (local / producción) se resuelven dinámicamente mediante variables de entorno, evitando URLs fijas en el código.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Tecnologías utilizadas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5029200"/>
              </a:tblGrid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Tecnología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Propósito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React, TypeScript, Vite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 modular, tipado fuerte, build rápido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Laravel (PHP), Socialite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REST por microservicio, OAuth con Google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de datos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MySQL / MariaDB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Persistencia relacional centralizada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Contenedores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Docker, Docker Compose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Aislamiento y orquestación de cada servicio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Infraestructura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Apache (reverse proxy), Let's Encrypt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Enrutamiento HTTPS hacia cada microservicio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VPS Linux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Despliegue en producción 24/7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y control de acceso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64008" cy="21945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Autenticación dual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tradicional (usuario/contraseña) y Google SSO, según el tipo de cuenta del usuario.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280160"/>
            <a:ext cx="64008" cy="21945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y permisos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17556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Perfiles diferenciados: estudiante, docente, administrativo — cada uno con accesos y filtros propios (por escuela, rol, etc.).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49040"/>
            <a:ext cx="64008" cy="21945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858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22452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acciones administrativas (creación, edición, activación/inactivación de usuarios y recursos).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749040"/>
            <a:ext cx="64008" cy="219456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858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de extremo a extremo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422452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Certificados SSL (Let's Encrypt) en el dominio público; todo el tráfico cifrado en producción.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 e infraestructura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microservicio y el frontend corren en su propio contenedor Docker, orquestados con docker-compose.yml.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Apache en el VPS actúa como reverse proxy: expone un solo dominio público y enruta internamente /svc/&lt;servicio&gt;/ a cada contenedor.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de entorno separan configuración de desarrollo local (localhost) y producción (dominio real), sin mezclar código.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 SSL/TLS automático y renovable mediante Let's Encrypt / Certbot.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 poblada con información real de la universidad (usuarios, escuelas, docentes, estudiantes).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actual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desplegada y accesible en producción (VPS con dominio propio).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con usuario/contraseña y con Google funcionando en ambos entornos.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de 15 microservicios activos cubriendo distintas áreas de la universidad.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usuarios con filtros por escuela y por rol.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espacios con filtros y disponibilidad en tiempo real.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inicial con Aula Virtual (Moodle) vía SSO.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Trabajo futuro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Reforzar el almacenamiento de contraseñas con hashing seguro (bcrypt) en todos los módulos.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Ampliar reportes y dashboards analíticos por escuela y por módulo.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Notificaciones automáticas (correo / push) para reservas, sanciones e incidencias.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automatizadas y monitoreo de los microservicios en producción.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031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7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UPT — Unificando la gestión universitaria en una sola plataforma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 UPT - Presentación del Proyecto</dc:title>
  <dc:subject>PptxGenJS Presentation</dc:subject>
  <dc:creator>Integra UPT</dc:creator>
  <cp:lastModifiedBy>Integra UPT</cp:lastModifiedBy>
  <cp:revision>1</cp:revision>
  <dcterms:created xsi:type="dcterms:W3CDTF">2026-06-25T01:20:11Z</dcterms:created>
  <dcterms:modified xsi:type="dcterms:W3CDTF">2026-06-25T01:20:11Z</dcterms:modified>
</cp:coreProperties>
</file>